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8FAF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8FAFC"/>
                </a:solidFill>
                <a:latin typeface="Arial"/>
              </a:rPr>
              <a:t>Distribuição por Severidade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Achados por Severidade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</c:v>
                  </c:pt>
                  <c:pt idx="1">
                    <c:v>ALTO</c:v>
                  </c:pt>
                  <c:pt idx="2">
                    <c:v>MÉDIO</c:v>
                  </c:pt>
                  <c:pt idx="3">
                    <c:v>BAIXO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</c:v>
                </c:pt>
                <c:pt idx="1">
                  <c:v>580</c:v>
                </c:pt>
                <c:pt idx="2">
                  <c:v>290</c:v>
                </c:pt>
                <c:pt idx="3">
                  <c:v>366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2D3B55">
              <a:alpha val="20000"/>
            </a:srgbClr>
          </a:solidFill>
          <a:ln w="1270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005840" cy="347472"/>
          </a:xfrm>
          <a:prstGeom prst="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FIAP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72768" y="320040"/>
            <a:ext cx="1828800" cy="347472"/>
          </a:xfrm>
          <a:prstGeom prst="rect">
            <a:avLst>
              <a:gd name="adj" fmla="val 13158"/>
            </a:avLst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2768" y="320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CHALLENGE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ASPM IA FIAP</a:t>
            </a:r>
            <a:endParaRPr lang="en-US" sz="5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4864" cy="65836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945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 Posture Management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IA Local via GPU AMD &amp; NVIDIA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Pride Security × FIAP  |  Turma 1TDCPV  | 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4297680"/>
            <a:ext cx="1371600" cy="50292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AMD Radeon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4297680"/>
            <a:ext cx="1371600" cy="502920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0" y="42976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NVIDIA RTX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github.com/carmipa/CHALLENGE_2026_PRIDE_SECURITY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5720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O que é?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CLI em Python para Application Security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Posture Management (ASPM), desenvolvida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Challenge FIAP × Pride Security 2026.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5720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Problema que resolve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Centraliza análise de vulnerabilidades 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código-fonte com suporte a IA local, sem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exposição de dados para nuvem.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5720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F"/>
                </a:solidFill>
              </a:rPr>
              <a:t>Público-alvo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Equipes técnicas, estudantes de segurança 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profissionais que precisam de ASPM leve,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educativo e extensível.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19202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Scan por Assinaturas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14 tipos de vulnerabilidade detectados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822960"/>
            <a:ext cx="19202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IA Local (LLM)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Análise cognitiva via LM Studio + GPU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743200"/>
            <a:ext cx="19202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Relatórios Ricos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JSON + Markdown + TXT por GPU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49440" y="2743200"/>
            <a:ext cx="1920240" cy="160020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49440" y="3383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Privacidade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Dados 100% locais, sem nuvem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solidFill>
            <a:srgbClr val="00C8FF">
              <a:alpha val="25000"/>
            </a:srgbClr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CLI Python (main.py)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560320" cy="640080"/>
          </a:xfrm>
          <a:prstGeom prst="rect">
            <a:avLst/>
          </a:prstGeom>
          <a:solidFill>
            <a:srgbClr val="A78BFA">
              <a:alpha val="25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91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menu_ia_local.py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Detecção nvidia-smi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2560320" cy="640080"/>
          </a:xfrm>
          <a:prstGeom prst="rect">
            <a:avLst/>
          </a:prstGeom>
          <a:solidFill>
            <a:srgbClr val="ED1C24">
              <a:alpha val="25000"/>
            </a:srgbClr>
          </a:solidFill>
          <a:ln w="19050">
            <a:solidFill>
              <a:srgbClr val="ED1C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scan_amd/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executar_scan.py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697480"/>
            <a:ext cx="2560320" cy="640080"/>
          </a:xfrm>
          <a:prstGeom prst="rect">
            <a:avLst/>
          </a:prstGeom>
          <a:solidFill>
            <a:srgbClr val="76B900">
              <a:alpha val="25000"/>
            </a:srgbClr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08960" y="2697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scan_nvidia/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executar_scan.py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2697480"/>
            <a:ext cx="2743200" cy="640080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executar_scan_ia.py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HTTP → LM Studio :1234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2560320" cy="594360"/>
          </a:xfrm>
          <a:prstGeom prst="rect">
            <a:avLst/>
          </a:prstGeom>
          <a:solidFill>
            <a:srgbClr val="ED1C24">
              <a:alpha val="25000"/>
            </a:srgbClr>
          </a:solidFill>
          <a:ln w="19050">
            <a:solidFill>
              <a:srgbClr val="ED1C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logs/amd/reports/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amd_report_*.json + _AI_*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3703320"/>
            <a:ext cx="2560320" cy="594360"/>
          </a:xfrm>
          <a:prstGeom prst="rect">
            <a:avLst/>
          </a:prstGeom>
          <a:solidFill>
            <a:srgbClr val="76B900">
              <a:alpha val="25000"/>
            </a:srgbClr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0896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logs/nvidia/reports/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nvidia_report_*.json + _AI_*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703320"/>
            <a:ext cx="2743200" cy="594360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LM Studio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(GPU local)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9144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1554480" y="233172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4389120" y="233172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1554480" y="333756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>
            <a:off x="4389120" y="333756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7315200" y="3337560"/>
            <a:ext cx="9144" cy="36576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5943600" y="2697480"/>
            <a:ext cx="9144" cy="320040"/>
          </a:xfrm>
          <a:prstGeom prst="line">
            <a:avLst/>
          </a:prstGeom>
          <a:noFill/>
          <a:ln w="15240">
            <a:solidFill>
              <a:srgbClr val="94A3B8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Local: AMD Radeon vs NVIDIA GeForce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777240"/>
            <a:ext cx="0" cy="4114800"/>
          </a:xfrm>
          <a:prstGeom prst="line">
            <a:avLst/>
          </a:prstGeom>
          <a:noFill/>
          <a:ln w="19050">
            <a:solidFill>
              <a:srgbClr val="2D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530352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🔴  AMD Radeon — Desktop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81328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Motor: scan_amd/executar_scan.py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1993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Relat.: amd_report_&lt;timestamp&gt;.json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05456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05456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436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Logs:  logs/amd/system/sistema_amd.log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17520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Metadado hardware: AMD Radeon RX 7800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29584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4360" y="3529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Ativado por padrão (sem nvidia-smi)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041648"/>
            <a:ext cx="201168" cy="310896"/>
          </a:xfrm>
          <a:prstGeom prst="rect">
            <a:avLst/>
          </a:prstGeom>
          <a:solidFill>
            <a:srgbClr val="ED1C24">
              <a:alpha val="60000"/>
            </a:srgbClr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041648"/>
            <a:ext cx="201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360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LM Studio usa GPU AMD disponível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822960"/>
            <a:ext cx="4023360" cy="530352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8229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🟢  NVIDIA GeForce — Notebook Mode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481328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4813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Motor: scan_nvidia/executar_scan.py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1993392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9933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Relat.: nvidia_report_&lt;timestamp&gt;.json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505456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5054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Logs:  logs/nvidia/system/sistema_nvidia.log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017520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0175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Metadado hardware: NVIDIA GeForce RTX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3529584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5295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Ativado automaticamente com nvidia-smi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4041648"/>
            <a:ext cx="201168" cy="310896"/>
          </a:xfrm>
          <a:prstGeom prst="rect">
            <a:avLst/>
          </a:prstGeom>
          <a:solidFill>
            <a:srgbClr val="76B900">
              <a:alpha val="6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041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LM Studio usa CUDA + GPU NVIDIA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 separação AMD/NVIDIA serve à organização de artefatos de auditoria. A GPU usada na inferência é controlada pelo LM Studio na máquina local.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Assinaturas — Vulnerabilidades Detectadas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315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31520"/>
            <a:ext cx="822960" cy="47548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315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CRÍTICO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731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SQL Injection Provável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7315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CWE-89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325880"/>
            <a:ext cx="822960" cy="47548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258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CRÍTICO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Execução de Risco (RCE)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3258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CWE-78/94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920240"/>
            <a:ext cx="822960" cy="47548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202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CRÍTICO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Desserialização Insegura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19202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CWE-502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1460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2514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Credenciais Hardcoded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5146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CWE-798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10896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10896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1089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88720" y="3108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XSS (Cross-Site Scripting)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108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CWE-79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7033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0332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033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88720" y="3703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Path Traversal / LFI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37033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CWE-22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29768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29768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97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88720" y="4297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SSRF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0" y="42976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CWE-918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7315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73152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7315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69280" y="7315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TLS/SSL Inseguro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7315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CWE-295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132588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132588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13258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69280" y="1325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JWT Inseguro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38160" y="13258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CWE-347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92024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1920240"/>
            <a:ext cx="822960" cy="47548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19202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ALTO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69280" y="19202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XXE (XML External Entity)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38160" y="19202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CWE-611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251460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2514600"/>
            <a:ext cx="822960" cy="475488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5146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MÉDIO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2514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Logging de Dados Sensíveis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38160" y="251460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CWE-532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310896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3108960"/>
            <a:ext cx="822960" cy="47548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1089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BAIXO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669280" y="31089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Configuração Insegura / CORS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38160" y="31089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CWE-16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00600" y="370332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00600" y="3703320"/>
            <a:ext cx="822960" cy="47548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37033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BAIXO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669280" y="3703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Entrada Externa p/ Revisão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38160" y="37033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CWE-20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00600" y="4297680"/>
            <a:ext cx="42062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4297680"/>
            <a:ext cx="822960" cy="475488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0600" y="42976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</a:rPr>
              <a:t>BAIXO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669280" y="42976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Regex Vulnerável (ReDoS)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138160" y="42976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CWE-1333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tipos de vulnerabilidade — baseados em OWASP Top 10 e CWEs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LLM Local — LM Studio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15087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658368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7772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Usuário executa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scan do projeto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37360" y="13716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777240"/>
            <a:ext cx="15087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65836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7772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Motor gera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JSON de achados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3716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777240"/>
            <a:ext cx="15087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24528" y="6583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03320" y="7772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CLI envia prompt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POST /v1/chat/completions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13716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777240"/>
            <a:ext cx="15087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61888" y="658368"/>
            <a:ext cx="457200" cy="45720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7772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LM Studio processa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com GPU local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13716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8040" y="777240"/>
            <a:ext cx="150876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99248" y="658368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658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7772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Parecer salvo como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.md e .txt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84124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3591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Como funciona a análise cognitiva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27706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🧠  System prompt: CSO Sênior — gera relatório Markdown com tabela de priorização, riscos, falsos positivos e próximos passos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1363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📤  User prompt: contexto ASPM + amostra de até 20 achados do JSON (índice, severidade, tipo, arquivo, linha, trecho de código)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50215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🌡️  Temperature: 0.1 — resposta determinística e técnica, adequada para relatórios de segurança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8679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⏱️  Timeout: 120s — compatível com modelos grandes em GPU (ex.: Llama 3, Gemma, Mistral)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2336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🔗  API compatível com OpenAI: GET /v1/models (heartbeat) + POST /v1/chat/completions — funciona com qualquer servidor LM Studio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Detalhado — Scan + Parecer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1920240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13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Usuário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34440" y="1097280"/>
            <a:ext cx="0" cy="3520440"/>
          </a:xfrm>
          <a:prstGeom prst="line">
            <a:avLst/>
          </a:prstGeom>
          <a:noFill/>
          <a:ln w="10160">
            <a:solidFill>
              <a:srgbClr val="7C3AED">
                <a:alpha val="40000"/>
              </a:srgbClr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2560320" y="713232"/>
            <a:ext cx="1920240" cy="384048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713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CLI 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097280"/>
            <a:ext cx="0" cy="3520440"/>
          </a:xfrm>
          <a:prstGeom prst="line">
            <a:avLst/>
          </a:prstGeom>
          <a:noFill/>
          <a:ln w="10160">
            <a:solidFill>
              <a:srgbClr val="00C8FF">
                <a:alpha val="40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4846320" y="713232"/>
            <a:ext cx="192024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13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Arquivo JSON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097280"/>
            <a:ext cx="0" cy="3520440"/>
          </a:xfrm>
          <a:prstGeom prst="line">
            <a:avLst/>
          </a:prstGeom>
          <a:noFill/>
          <a:ln w="10160">
            <a:solidFill>
              <a:srgbClr val="F59E0B">
                <a:alpha val="40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6949440" y="713232"/>
            <a:ext cx="1920240" cy="384048"/>
          </a:xfrm>
          <a:prstGeom prst="rect">
            <a:avLst/>
          </a:prstGeom>
          <a:solidFill>
            <a:srgbClr val="76B900">
              <a:alpha val="80000"/>
            </a:srgbClr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713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LM Studio :1234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09560" y="1097280"/>
            <a:ext cx="0" cy="3520440"/>
          </a:xfrm>
          <a:prstGeom prst="line">
            <a:avLst/>
          </a:prstGeom>
          <a:noFill/>
          <a:ln w="10160">
            <a:solidFill>
              <a:srgbClr val="76B900">
                <a:alpha val="40000"/>
              </a:srgbClr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1234440" y="1261872"/>
            <a:ext cx="22860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10515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Informa caminho do projeto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65576" y="120700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1691640"/>
            <a:ext cx="4572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566160" y="14813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Motor de assinaturas (scan_amd / scan_nvidia)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65576" y="163677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2121408"/>
            <a:ext cx="22860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1911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Grava relatório JSON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51576" y="206654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34440" y="2542032"/>
            <a:ext cx="22860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2331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Solicita análise com IA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65576" y="2487168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2971800"/>
            <a:ext cx="228600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27614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Lê vulnerabilidades do JSON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51576" y="2916936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3401568"/>
            <a:ext cx="4389120" cy="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1912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POST /v1/chat/completions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54696" y="3346704"/>
            <a:ext cx="109728" cy="10972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3822192"/>
            <a:ext cx="4389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36118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Texto do parecer (LLM)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65576" y="3767328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4440" y="4251960"/>
            <a:ext cx="22860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4041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Exibe parecer + salva .md/.txt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79576" y="4197096"/>
            <a:ext cx="109728" cy="10972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Gerados pelo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13232"/>
            <a:ext cx="8503920" cy="4187952"/>
          </a:xfrm>
          <a:prstGeom prst="rect">
            <a:avLst/>
          </a:prstGeom>
          <a:solidFill>
            <a:srgbClr val="0A0E1A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api_python/logs/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3232" y="107899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erro_sistema.log           — Logger raiz ASPM (todos os módulos)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amd/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9264" y="162763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system/sistema_amd.log     — Eventos do motor AMD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9264" y="190195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reports/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25296" y="217627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amd_report_YYYYMMDD_HHMMSS.json   — Scan de assinaturas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25296" y="245059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..._AI_PREMIUM.md                 — Parecer IA em Markdown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25296" y="272491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..._AI_LEITURA.txt                — Parecer IA p/ impressão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299923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nvidia/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" y="327355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system/sistema_nvidia.log  — Eventos do motor NVIDIA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9264" y="3547872"/>
            <a:ext cx="7717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B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reports/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25296" y="382219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nvidia_report_YYYYMMDD_HHMMSS.json — Scan de assinaturas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25296" y="409651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..._AI_PREMIUM.md                  — Parecer IA em Markdown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25296" y="4370832"/>
            <a:ext cx="7461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├─ ..._AI_LEITURA.txt                 — Parecer IA p/ impressão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Reais — Scan NVIDIA GeForce RTX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92024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412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6B900"/>
                </a:solidFill>
              </a:rPr>
              <a:t>3.628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Arquivos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Analisados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92024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412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1.548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Achados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Detectados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777240"/>
            <a:ext cx="192024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412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FF"/>
                </a:solidFill>
              </a:rPr>
              <a:t>1 min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1772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Tempo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Geração 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777240"/>
            <a:ext cx="192024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412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</a:rPr>
              <a:t>20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Achados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Prompt (amostra)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20040" y="2377440"/>
          <a:ext cx="50292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577840" y="2377440"/>
            <a:ext cx="324612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423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Principais Achados CRÍTICOS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15000" y="2852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shell=True (RCE)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46720" y="2926080"/>
            <a:ext cx="6583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29260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41%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1500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subprocess.run( 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46720" y="3401568"/>
            <a:ext cx="6583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46720" y="34015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28%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715000" y="38039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SQL dinâmico (f-string)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46720" y="3877056"/>
            <a:ext cx="6583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38770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18%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715000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pickle.loads( 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46720" y="4352544"/>
            <a:ext cx="65836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046720" y="43525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13%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Fonte: nvidia_report_20260511_171723_AI_PREMIUM.md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Privacidade por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03504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41605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</a:rPr>
              <a:t>100% Local — Sem Nuvem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29844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Todo tráfego entre a CLI e o LM Studio passa apenas pelo loopback (localhost:1234). Nenhum dado do projeto é enviado para servidores externos.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1605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669280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B900"/>
                </a:solidFill>
              </a:rPr>
              <a:t>Inferência na Própria GPU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29844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 LLM roda na GPU da máquina local (AMD via drivers nativos ou NVIDIA via CUDA). A chave privada do projeto nunca sai do ambiente corporativo.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41605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Análise Heurística — Validação Humana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26440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O parecer da IA prioriza revisão humana. O scan é por assinaturas (ASPM educativo) — não substitui pentest ou pipeline CI/CD de segurança.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770632"/>
            <a:ext cx="41605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880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669280" y="2880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Trilha de Auditoria por GPU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3264408"/>
            <a:ext cx="32004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Logs separados por fabricante (AMD/NVIDIA) com timestamps UTC, UTC-03 e sistema. Rastreabilidade total de cada scan realizado.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Equipe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Turma 1TDCPV — FIAP Challenge 2026 Pride Security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886968"/>
            <a:ext cx="822960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1216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Paulo André Carminati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RM570877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237744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FF"/>
                </a:solidFill>
              </a:rPr>
              <a:t>Arquitetura &amp; Backend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265176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3444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50792" y="1216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Gustav Quental Scorsi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5079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RM569862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2039112"/>
            <a:ext cx="237744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8BFA"/>
                </a:solidFill>
              </a:rPr>
              <a:t>Segurança &amp; Testes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051560"/>
            <a:ext cx="265176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2344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85432" y="1216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André Archanjo dos Santos Torres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RM570458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039112"/>
            <a:ext cx="237744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1305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Motor de Scan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063240"/>
            <a:ext cx="397764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76B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76B90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16152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Luiz Carlos da Paixão dos Santos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16152" y="3630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RM573009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050792"/>
            <a:ext cx="370332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142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B900"/>
                </a:solidFill>
              </a:rPr>
              <a:t>IA Local &amp; GPU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063240"/>
            <a:ext cx="3977640" cy="1691640"/>
          </a:xfrm>
          <a:prstGeom prst="rect">
            <a:avLst/>
          </a:prstGeom>
          <a:solidFill>
            <a:srgbClr val="1E293B"/>
          </a:solidFill>
          <a:ln w="19050">
            <a:solidFill>
              <a:srgbClr val="ED1C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246120"/>
            <a:ext cx="640080" cy="6400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</a:rPr>
              <a:t>V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68112" y="322783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Victor Henrique de Barros Oliveira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68112" y="36301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RM570012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050792"/>
            <a:ext cx="3703320" cy="18288"/>
          </a:xfrm>
          <a:prstGeom prst="rect">
            <a:avLst/>
          </a:prstGeom>
          <a:solidFill>
            <a:srgbClr val="2D3B55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42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1C24"/>
                </a:solidFill>
              </a:rPr>
              <a:t>Relatórios &amp; CLI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ASPM IA FIAP — Challenge 2026 Pride Security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667512"/>
            <a:ext cx="365760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868680"/>
            <a:ext cx="219456" cy="21945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CLI modular capaz de analisar projetos multi-linguagem com 14 tipos de vulnerabilidade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399032"/>
            <a:ext cx="219456" cy="21945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Integração com LLM local via LM Studio garante privacidade e análise cognitiva offline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929384"/>
            <a:ext cx="219456" cy="21945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901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Separação AMD/NVIDIA facilita laboratórios didáticos e auditoria por hardware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59736"/>
            <a:ext cx="219456" cy="219456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32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Relatório real: 3.628 arquivos, 1.548 achados — parecer executivo gerado em &lt;1min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11480" y="3456432"/>
            <a:ext cx="41605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456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🔗  Integração com pipelines CI/CD (GitHub Actions, GitLab CI)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456432"/>
            <a:ext cx="41605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34564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🌐  Interface Web com dashboard de vulnerabilidades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050792"/>
            <a:ext cx="41605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40507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📦  Banco de dados para persistência de histórico de scans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4050792"/>
            <a:ext cx="41605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B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40507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🤖  Suporte a múltiplos modelos LLM e backends GPU (ROCm, TensorRT)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919472"/>
            <a:ext cx="82296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github.com/carmipa/CHALLENGE_2026_PRIDE_SECURITY  |  Turma 1TDCPV  |  FIAP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ASPM IA FIAP - Challenge 2026 Pride Security</dc:title>
  <dc:subject>PptxGenJS Presentation</dc:subject>
  <dc:creator>ASPM IA FIAP - Turma 1TDCPV</dc:creator>
  <cp:lastModifiedBy>ASPM IA FIAP - Turma 1TDCPV</cp:lastModifiedBy>
  <cp:revision>1</cp:revision>
  <dcterms:created xsi:type="dcterms:W3CDTF">2026-05-18T15:47:17Z</dcterms:created>
  <dcterms:modified xsi:type="dcterms:W3CDTF">2026-05-18T15:47:17Z</dcterms:modified>
</cp:coreProperties>
</file>