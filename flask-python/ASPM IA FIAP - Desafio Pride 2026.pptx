
<file path=[Content_Types].xml><?xml version="1.0" encoding="utf-8"?>
<Types xmlns="http://schemas.openxmlformats.org/package/2006/content-types">
  <Default Extension="gif" ContentType="image/gi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59" r:id="rId4"/>
    <p:sldId id="260" r:id="rId5"/>
    <p:sldId id="257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43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7256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7493" y="2341290"/>
            <a:ext cx="7109014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pt-BR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ASPM com Inteligência Artificial</a:t>
            </a:r>
            <a:endParaRPr lang="pt-BR" sz="3600" dirty="0"/>
          </a:p>
        </p:txBody>
      </p:sp>
      <p:sp>
        <p:nvSpPr>
          <p:cNvPr id="4" name="Text 1"/>
          <p:cNvSpPr/>
          <p:nvPr/>
        </p:nvSpPr>
        <p:spPr>
          <a:xfrm>
            <a:off x="2401041" y="3042270"/>
            <a:ext cx="434191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pt-BR" sz="18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r>
              <a:rPr lang="pt-BR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Security </a:t>
            </a:r>
            <a:r>
              <a:rPr lang="pt-BR" sz="18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Posture</a:t>
            </a:r>
            <a:r>
              <a:rPr lang="pt-BR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Management</a:t>
            </a:r>
            <a:endParaRPr lang="pt-BR" sz="1800" dirty="0"/>
          </a:p>
        </p:txBody>
      </p:sp>
      <p:sp>
        <p:nvSpPr>
          <p:cNvPr id="5" name="Text 2"/>
          <p:cNvSpPr/>
          <p:nvPr/>
        </p:nvSpPr>
        <p:spPr>
          <a:xfrm>
            <a:off x="3742312" y="3438451"/>
            <a:ext cx="1659301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pt-BR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FIAP </a:t>
            </a:r>
            <a:r>
              <a:rPr lang="pt-BR" sz="135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r>
              <a:rPr lang="pt-BR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2026</a:t>
            </a:r>
            <a:endParaRPr lang="pt-BR" sz="1350" dirty="0"/>
          </a:p>
        </p:txBody>
      </p:sp>
      <p:pic>
        <p:nvPicPr>
          <p:cNvPr id="1026" name="Picture 2" descr="PRIDE Security">
            <a:extLst>
              <a:ext uri="{FF2B5EF4-FFF2-40B4-BE49-F238E27FC236}">
                <a16:creationId xmlns:a16="http://schemas.microsoft.com/office/drawing/2014/main" id="{6C837835-0D38-EC83-93B2-E349E968A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62" y="436290"/>
            <a:ext cx="45720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ASPM Inteligente da PRIDE Security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30"/>
              </a:lnSpc>
              <a:buSzPct val="100000"/>
            </a:pPr>
            <a:r>
              <a:rPr lang="pt-BR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Essencial:</a:t>
            </a:r>
          </a:p>
          <a:p>
            <a:pPr marL="342900" indent="-342900">
              <a:lnSpc>
                <a:spcPts val="2430"/>
              </a:lnSpc>
              <a:buSzPct val="100000"/>
              <a:buFont typeface="Wingdings" pitchFamily="2" charset="2"/>
              <a:buChar char="Ø"/>
            </a:pPr>
            <a:r>
              <a:rPr lang="pt-BR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em todo ciclo de desenvolvimento.</a:t>
            </a:r>
          </a:p>
          <a:p>
            <a:pPr marL="342900" indent="-342900">
              <a:lnSpc>
                <a:spcPts val="2430"/>
              </a:lnSpc>
              <a:buSzPct val="100000"/>
              <a:buFont typeface="Wingdings" pitchFamily="2" charset="2"/>
              <a:buChar char="Ø"/>
            </a:pPr>
            <a:r>
              <a:rPr lang="pt-BR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Inventário automatizado</a:t>
            </a:r>
            <a:r>
              <a:rPr lang="pt-BR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 IA para descoberta de ativos.</a:t>
            </a:r>
            <a:br>
              <a:rPr lang="pt-BR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pt-BR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Identificação e gestão de vulnerabilidades, integração com CI, CD, etc.</a:t>
            </a:r>
            <a:endParaRPr lang="pt-BR" sz="1350" dirty="0"/>
          </a:p>
          <a:p>
            <a:pPr marL="342900" indent="-342900">
              <a:lnSpc>
                <a:spcPts val="2430"/>
              </a:lnSpc>
              <a:buSzPct val="100000"/>
              <a:buFont typeface="Wingdings" pitchFamily="2" charset="2"/>
              <a:buChar char="Ø"/>
            </a:pPr>
            <a:r>
              <a:rPr lang="pt-BR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Orquestração SAST/DAST/</a:t>
            </a:r>
            <a:r>
              <a:rPr lang="pt-BR" sz="1350" b="1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Pentest</a:t>
            </a:r>
            <a:r>
              <a:rPr lang="pt-BR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 priorização por IA (LLM, ML, </a:t>
            </a:r>
            <a:r>
              <a:rPr lang="pt-BR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</a:t>
            </a:r>
            <a:r>
              <a:rPr lang="pt-BR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pt-BR" sz="1350" dirty="0"/>
          </a:p>
          <a:p>
            <a:pPr marL="342900" indent="-342900">
              <a:lnSpc>
                <a:spcPts val="2430"/>
              </a:lnSpc>
              <a:buSzPct val="100000"/>
              <a:buFont typeface="Wingdings" pitchFamily="2" charset="2"/>
              <a:buChar char="Ø"/>
            </a:pPr>
            <a:r>
              <a:rPr lang="pt-BR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Proteção </a:t>
            </a:r>
            <a:r>
              <a:rPr lang="pt-BR" sz="1350" b="1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anti-prompt</a:t>
            </a:r>
            <a:r>
              <a:rPr lang="pt-BR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350" b="1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</a:t>
            </a:r>
            <a:r>
              <a:rPr lang="pt-BR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pt-BR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detecção de </a:t>
            </a:r>
            <a:r>
              <a:rPr lang="pt-BR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</a:t>
            </a:r>
            <a:r>
              <a:rPr lang="pt-BR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leaks</a:t>
            </a:r>
            <a:r>
              <a:rPr lang="pt-BR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dados sensíveis de cliente, etc.</a:t>
            </a:r>
            <a:endParaRPr lang="pt-BR" sz="1350" dirty="0"/>
          </a:p>
          <a:p>
            <a:pPr marL="342900" indent="-342900">
              <a:lnSpc>
                <a:spcPts val="2430"/>
              </a:lnSpc>
              <a:buSzPct val="100000"/>
              <a:buFont typeface="Wingdings" pitchFamily="2" charset="2"/>
              <a:buChar char="Ø"/>
            </a:pPr>
            <a:r>
              <a:rPr lang="pt-BR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</a:t>
            </a:r>
            <a:r>
              <a:rPr lang="pt-BR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 ferramentas de mercado (ex.: </a:t>
            </a:r>
            <a:r>
              <a:rPr lang="pt-BR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Semgrep</a:t>
            </a:r>
            <a:r>
              <a:rPr lang="pt-BR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pt-BR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Burp</a:t>
            </a:r>
            <a:r>
              <a:rPr lang="pt-BR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Suite</a:t>
            </a:r>
            <a:r>
              <a:rPr lang="pt-BR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pt-BR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Nessus</a:t>
            </a:r>
            <a:r>
              <a:rPr lang="pt-BR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pt-BR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Qualys</a:t>
            </a:r>
            <a:r>
              <a:rPr lang="pt-BR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pt-BR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</a:t>
            </a:r>
            <a:r>
              <a:rPr lang="pt-BR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pt-BR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35"/>
            <a:ext cx="7924800" cy="1142926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92561"/>
            <a:ext cx="7924800" cy="1142926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535487"/>
            <a:ext cx="7924800" cy="1142926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Tecnologias de IA Aplicadas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35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38200" y="1950616"/>
            <a:ext cx="7616952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Detecção de anomalias, classificação de riscos e redução de falsos positivos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2621161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&amp; LLMs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38200" y="3093541"/>
            <a:ext cx="7616952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código-fonte, geração de remediações e threat intelligence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8200" y="3764087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236467"/>
            <a:ext cx="7616952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automatizados de UI e validação visual de segurança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19834" y="1261170"/>
            <a:ext cx="3304257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Comercial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977405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por Ativos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30352" y="2404095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escalável baseado em número de aplicações monitoradas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0352" y="2644080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First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0352" y="3070771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SOC2, ISO 27001 e licenças comerciais validadas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441649" y="3615556"/>
            <a:ext cx="42607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Diferencial: IA multi-modal + visibilidade unificada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ASPM - Fundamentos (Parte 1)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ASPM (Application Security Posture Management)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501080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Abordagem holística para gerenciar continuamente riscos de segurança em aplicações através de visibilidade centralizada, correlação de dados e priorização inteligente de vulnerabilidades.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80171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Discovery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331616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automatizado de identificação de todos os ativos de aplicações em um ambiente, incluindo shadow IT e aplicações esquecidas que representam riscos de segurança.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910706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Posture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3162151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geral de segurança de uma organização, avaliando vulnerabilidades, configurações, controles e capacidade de resposta a ameaças.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ASPM - Fundamentos (Parte 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Correlation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501080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Capacidade de associar múltiplos sinais de segurança de diferentes ferramentas para identificar o impacto real e exploitabilidade de vulnerabilidades no contexto do ambiente de produção.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80171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Orchestration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331616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Coordenação automatizada de múltiplas ferramentas de segurança (SAST, DAST, SCA, pentest) através de workflows integrados e aplicação consistente de políticas de segurança.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910706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Signal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3162151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 de potencial vulnerabilidade ou risco detectado por ferramentas de segurança, tratado como hipótese que precisa validação contextual antes de ação.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de Segurança (Parte 1)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SAST (Static Application Security Testing)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501080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código-fonte ou binários sem executar a aplicação, identificando vulnerabilidades através de padrões, fluxo de dados e análise sintática durante o desenvolvimento.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80171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DAST (Dynamic Application Security Testing)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331616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de segurança em aplicações em execução simulando ataques reais (black-box), sem acesso ao código-fonte, identificando vulnerabilidades exploráveis em runtime.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910706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IAST (Interactive Application Security Testing)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3162151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de aplicações durante testes ou runtime através de instrumentação de código, combinando visibilidade interna (white-box) com simulação de ataques.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de Segurança (Parte 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 (Software Composition Analysis)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501080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componentes de terceiros e dependências open-source, identificando vulnerabilidades conhecidas (CVEs), licenças incompatíveis e riscos de supply chain.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80171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 (Runtime Application Self-Protection)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331616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 integrada à aplicação que detecta e bloqueia ataques em tempo real durante execução, com contexto interno completo sobre fluxo de dados e comportamento.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910706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IaC Scanning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3162151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código de infraestrutura (Terraform, CloudFormation, Kubernetes) para identificar configurações inseguras antes do deployment em ambientes cloud.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Vulnerabilidades e Riscos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CVE (Common Vulnerabilities and Exposures)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501080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identificação padronizado para vulnerabilidades de segurança conhecidas publicamente, mantido pela MITRE Corporation com IDs únicos (ex: CVE-2024-1234).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80171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CVSS (Common Vulnerability Scoring System)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331616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padronizado para avaliar severidade de vulnerabilidades através de score 0-10, considerando exploitabilidade, impacto e características temporais e ambientais.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910706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Zero-Day Vulnerability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3162151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Vulnerabilidade desconhecida pelo fornecedor do software, sem patch disponível, sendo ativamente explorada por atacantes antes da descoberta pública.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e Compliance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Attack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501080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Comprometimento de aplicações através de dependências ou fornecedores confiáveis, como bibliotecas open-source maliciosas ou ferramentas de build infectadas.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80171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SBOM (Software Bill of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331616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Inventário completo de componentes, bibliotecas e dependências de uma aplicação, crucial para rastreabilidade, gestão de vulnerabilidades e compliance regulatório.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910706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3162151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de segurança incorreto onde a ferramenta identifica vulnerabilidade inexistente, gerando ruído e desperdício de esforço na triagem e remediação.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- Machine Learning (Parte 1)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(ML)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501080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Subcampo de IA onde algoritmos aprendem padrões a partir de dados sem programação explícita, usado em ASPM para classificação de riscos, detecção de anomalias e redução de falsos positivos.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80171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331616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 de ML que identifica desvios de padrões normais de comportamento em aplicações, detectando atividades suspeitas, exfiltração de dados ou ataques desconhecidos.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910706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3162151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 de modelos ML para calcular prioridade de vulnerabilidades baseado em contexto (exposição, criticidade do ativo, exploitabilidade), além do CVSS tradicional.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- Machine Learning (Parte 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501080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 de modelos ML com dados rotulados (ex: vulnerabilidades confirmadas vs falsos positivos) para classificação e predição em novos dados de segurança.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80171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Learning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331616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ML que descobrem padrões ocultos em dados não rotulados, útil para clustering de vulnerabilidades similares e identificação de comportamentos anômalos desconhecidos.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910706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3162151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de alimentar algoritmos ML com datasets históricos de vulnerabilidades, ataques e remediações para otimizar performance e acurácia de predições de risco.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- NLP e LLMs (Parte 1)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(Natural Language Processing)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501080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 de IA focado em processar e entender linguagem humana, aplicado em ASPM para análise de documentação, threat intelligence e geração automática de remediações.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80171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(Large Language Model)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331616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linguagem massivos (GPT, Claude, Gemini) treinados em trilhões de tokens, capazes de compreensão contextual, geração de código e análise de vulnerabilidades em código-fonte.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910706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Analysis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3162151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de LLMs para revisar código-fonte identificando vulnerabilidades semânticas, lógica insegura e padrões anti-segurança que ferramentas SAST tradicionais não detectam.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- NLP e LLMs (Parte 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Intelligence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501080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Processamento automático via NLP de relatórios de segurança, CVEs, artigos técnicos e feeds de ameaças para correlacionar riscos emergentes com vulnerabilidades do ambiente.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80171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 Generation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331616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Capacidade de LLMs gerarem automaticamente patches de código, configurações corrigidas e recomendações contextualizadas de remediação para vulnerabilidades identificadas.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910706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Understanding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3162151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Habilidade de modelos NLP/LLM compreenderem significado e intenção do código além da sintaxe, detectando lógicas de negócio inseguras e fluxos de dados maliciosos.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- Computer Vision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501080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de IA para processamento e análise de imagens, aplicadas em testes automatizados de UI, validação visual de segurança e detecção de elementos sensíveis em interfaces.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80171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Security Testing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331616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de modelos de visão computacional para validar automaticamente fluxos de autenticação, detecção de XSS refletido em interfaces e vazamento visual de dados sensíveis.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910706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Regression Testing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3162151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automatizada de screenshots de aplicações para identificar alterações não intencionais que podem introduzir vulnerabilidades de segurança em UIs.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Ataques contra IA (Parte 1)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501080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Ataque onde inputs maliciosos manipulam instruções de LLMs para ignorar restrições de segurança, exfiltrar system prompts ou executar ações não autorizadas (OWASP LLM01).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80171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Jailbreaking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331616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para contornar guardrails e políticas de segurança de LLMs através de prompts adversariais, obtendo respostas proibidas ou gerando conteúdo malicioso.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910706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 Leakage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3162151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Exfiltração de instruções internas (system prompts) de aplicações LLM, revelando lógica de negócio, políticas de segurança e informações confidenciais da organização (OWASP LLM07).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Ataques contra IA (Parte 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Poisoning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501080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Injeção de dados maliciosos durante treinamento ou fine-tuning de modelos ML/LLM para introduzir backdoors, vieses ou comprometer comportamento em produção (OWASP LLM04).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80171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Extraction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331616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de engenharia reversa para replicar modelos proprietários através de queries sistemáticas, roubando propriedade intelectual e facilitando ataques adversariais.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910706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Attack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3162151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Manipulação de inputs para enganar modelos ML, como perturbações imperceptíveis em imagens que causam classificação errada ou evasão de detecção de malware.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Ataques contra IA (Parte 3)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Leakage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501080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Exposição de segredos (API keys, tokens, senhas) através de outputs de LLMs que memorizam dados sensíveis de treinamento ou concatenam informações de contexto (OWASP LLM02).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80171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Poisoning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331616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Inserção de documentos maliciosos em bases de conhecimento RAG (Retrieval-Augmented Generation) para manipular respostas de LLMs e exfiltrar dados através de queries controladas.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910706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Abuse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3162151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Exploração de LLMs com acesso a ferramentas externas (APIs, databases, shell) para executar ações maliciosas através de prompts que manipulam chamadas de funções.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de IA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Pentesting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501080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estruturada de segurança de aplicações LLM testando prompt injection, jailbreak, exfiltração de dados, abuse de ferramentas e validação de guardrails.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80171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331616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Controles de segurança que validam inputs e outputs de LLMs, bloqueando prompts maliciosos, filtrando conteúdo sensível e aplicando políticas de uso aceitável.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910706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LLM Top 10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3162151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dos 10 riscos críticos em aplicações LLM: prompt injection, vazamento de dados, vulnerabilidades de supply chain, data poisoning, output handling inseguro, entre outros.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DevSecOps e SDLC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DevSecOps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501080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de práticas de segurança em todo ciclo de desenvolvimento, automatizando testes de segurança em CI/CD e promovendo responsabilidade compartilhada entre dev, sec e ops.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80171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Shift-Left Security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331616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Filosofia de identificar e corrigir vulnerabilidades o mais cedo possível no SDLC, reduzindo custo e complexidade de remediação através de SAST/SCA em desenvolvimento.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910706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Security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3162151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Proteção de pipelines de integração e deployment contínuos contra comprometimento, incluindo validação de código, scanning de containers e secrets management automatizado.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e Containers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Security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501080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Proteção de imagens Docker/containers através de scanning de vulnerabilidades em base images, validação de runtime policies e isolamento de workloads em Kubernetes.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80171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CSPM (Cloud Security Posture Management)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331616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 de configurações de infraestrutura cloud (AWS, Azure, GCP) para identificar misconfigurations, violações de compliance e exposições de segurança.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910706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Security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3162151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Proteção de interfaces de programação contra OWASP API Top 10: broken authentication, excessive data exposure, injection, rate limiting insuficiente e misconfiguration.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e Integrações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Pane of Glass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501080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unificada em ASPM que agrega dados de múltiplas ferramentas de segurança (SAST, DAST, SCA, pentest) em dashboard centralizado para visibilidade holística.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80171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Orchestration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331616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 de workflows de segurança conectando ferramentas díspares, criando pipelines de triagem, priorização e remediação sem intervenção manual excessiva.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910706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 Integration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3162151"/>
            <a:ext cx="79248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de plataformas ASPM com Security Information and Event Management para correlação de vulnerabilidades de aplicações com eventos de runtime e incidentes de segurança.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1836</Words>
  <Application>Microsoft Macintosh PowerPoint</Application>
  <PresentationFormat>On-screen Show (16:9)</PresentationFormat>
  <Paragraphs>171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Wendel Guglielmetti Henrique</cp:lastModifiedBy>
  <cp:revision>2</cp:revision>
  <dcterms:created xsi:type="dcterms:W3CDTF">2026-03-26T12:08:03Z</dcterms:created>
  <dcterms:modified xsi:type="dcterms:W3CDTF">2026-03-26T13:35:36Z</dcterms:modified>
</cp:coreProperties>
</file>